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45720" cy="6858000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173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4845A"/>
                </a:solidFill>
                <a:latin typeface="Calibri"/>
              </a:rPr>
              <a:t>FINAL YEAR PROJECT  · 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7863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Calibri"/>
              </a:rPr>
              <a:t>Property Rental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5600" b="1">
                <a:solidFill>
                  <a:srgbClr val="D4845A"/>
                </a:solidFill>
                <a:latin typeface="Calibri"/>
              </a:rPr>
              <a:t>System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DDCC"/>
                </a:solidFill>
                <a:latin typeface="Calibri"/>
              </a:rPr>
              <a:t>CNIC-Verified Property Rentals &amp; Roommate Matching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709160"/>
            <a:ext cx="2926080" cy="4114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892040"/>
            <a:ext cx="7680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D4845A"/>
                </a:solidFill>
                <a:latin typeface="Calibri"/>
              </a:rPr>
              <a:t>PRESENTED BY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Qamar Shahzad</a:t>
            </a:r>
            <a:r>
              <a:rPr sz="1500" b="0">
                <a:solidFill>
                  <a:srgbClr val="C9BDAC"/>
                </a:solidFill>
                <a:latin typeface="Calibri"/>
              </a:rPr>
              <a:t>     BSIT-21-41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Zain Irshad</a:t>
            </a:r>
            <a:r>
              <a:rPr sz="1500" b="0">
                <a:solidFill>
                  <a:srgbClr val="C9BDAC"/>
                </a:solidFill>
                <a:latin typeface="Calibri"/>
              </a:rPr>
              <a:t>        BSIT-21-45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Supervisor:  </a:t>
            </a:r>
            <a:r>
              <a:rPr sz="1500" b="0">
                <a:solidFill>
                  <a:srgbClr val="C9BDAC"/>
                </a:solidFill>
                <a:latin typeface="Calibri"/>
              </a:rPr>
              <a:t>Sir Toseefullah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BDAC"/>
                </a:solidFill>
                <a:latin typeface="Calibri"/>
              </a:rPr>
              <a:t>Bahauddin Zakariya University, Multan  ·  BS Information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>
                <a:solidFill>
                  <a:srgbClr val="6B6052"/>
                </a:solidFill>
                <a:latin typeface="Calibri"/>
              </a:rPr>
              <a:t>Trust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>
                <a:solidFill>
                  <a:srgbClr val="6B6052"/>
                </a:solidFill>
                <a:latin typeface="Calibri"/>
              </a:rPr>
              <a:t>Verify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>
                <a:solidFill>
                  <a:srgbClr val="6B6052"/>
                </a:solidFill>
                <a:latin typeface="Calibri"/>
              </a:rPr>
              <a:t>Match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200" b="1">
                <a:solidFill>
                  <a:srgbClr val="6B6052"/>
                </a:solidFill>
                <a:latin typeface="Calibri"/>
              </a:rPr>
              <a:t>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INTRODUCTION &amp; PROBLEM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Renting in Pakistan runs on guesswork and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A453F"/>
                </a:solidFill>
                <a:latin typeface="Calibri"/>
              </a:rPr>
              <a:t>Tenants, students and landlords have no trusted platform — so every rental starts with uncertainty.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3502152" cy="1627632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82296" cy="1627632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3044952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201D"/>
                </a:solidFill>
                <a:latin typeface="Calibri"/>
              </a:rPr>
              <a:t>Unverified people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Landlords and tenants can't confirm each other's real identity — opening the door to fraud and fake listings.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514600"/>
            <a:ext cx="3502152" cy="1627632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2514600"/>
            <a:ext cx="82296" cy="1627632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697480"/>
            <a:ext cx="3044952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201D"/>
                </a:solidFill>
                <a:latin typeface="Calibri"/>
              </a:rPr>
              <a:t>Scams &amp; fake photos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Advance-payment scams, misleading pictures and no accountability are common.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514600"/>
            <a:ext cx="3502152" cy="1627632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0144" y="2514600"/>
            <a:ext cx="82296" cy="1627632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2697480"/>
            <a:ext cx="3044952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201D"/>
                </a:solidFill>
                <a:latin typeface="Calibri"/>
              </a:rPr>
              <a:t>Students struggle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New-city students (e.g. BZU, Multan) can't easily find safe, nearby rooms.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3502152" cy="1627632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343400"/>
            <a:ext cx="82296" cy="1627632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526280"/>
            <a:ext cx="3044952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201D"/>
                </a:solidFill>
                <a:latin typeface="Calibri"/>
              </a:rPr>
              <a:t>Roommate guesswork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Finding a compatible roommate depends on word-of-mouth and luck.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4343400"/>
            <a:ext cx="3502152" cy="1627632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5112" y="4343400"/>
            <a:ext cx="82296" cy="1627632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4526280"/>
            <a:ext cx="3044952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201D"/>
                </a:solidFill>
                <a:latin typeface="Calibri"/>
              </a:rPr>
              <a:t>Scattered listings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Options are spread across Facebook groups and agents with no verification.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4343400"/>
            <a:ext cx="3502152" cy="1627632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10144" y="4343400"/>
            <a:ext cx="82296" cy="1627632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4526280"/>
            <a:ext cx="3044952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3201D"/>
                </a:solidFill>
                <a:latin typeface="Calibri"/>
              </a:rPr>
              <a:t>No digital record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Bookings, payments and agreements are informal and untracked.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PROPOSED SOLUTION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A trust-first rental &amp; roommate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4A453F"/>
                </a:solidFill>
                <a:latin typeface="Calibri"/>
              </a:rPr>
              <a:t>Every user is </a:t>
            </a:r>
            <a:r>
              <a:rPr sz="1800" b="1">
                <a:solidFill>
                  <a:srgbClr val="A06030"/>
                </a:solidFill>
                <a:latin typeface="Calibri"/>
              </a:rPr>
              <a:t>CNIC + email verified</a:t>
            </a:r>
            <a:r>
              <a:rPr sz="1800" b="0">
                <a:solidFill>
                  <a:srgbClr val="4A453F"/>
                </a:solidFill>
                <a:latin typeface="Calibri"/>
              </a:rPr>
              <a:t>, every listing is admin-approved, and the whole rental journey is digital — from discovery to a signed lease.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3502152" cy="141732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916936"/>
            <a:ext cx="384048" cy="38404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916936"/>
            <a:ext cx="25420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3201D"/>
                </a:solidFill>
                <a:latin typeface="Calibri"/>
              </a:rPr>
              <a:t>Verified identities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CNIC + email verification builds a real trust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697480"/>
            <a:ext cx="3502152" cy="141732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2916936"/>
            <a:ext cx="384048" cy="38404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916936"/>
            <a:ext cx="25420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3201D"/>
                </a:solidFill>
                <a:latin typeface="Calibri"/>
              </a:rPr>
              <a:t>Approved listings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Admin reviews every property before it goes live.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697480"/>
            <a:ext cx="3502152" cy="141732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2916936"/>
            <a:ext cx="384048" cy="38404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2916936"/>
            <a:ext cx="25420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3201D"/>
                </a:solidFill>
                <a:latin typeface="Calibri"/>
              </a:rPr>
              <a:t>Map-based search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Find rooms by exact location using an interactive map.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15968"/>
            <a:ext cx="3502152" cy="141732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4535424"/>
            <a:ext cx="384048" cy="38404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4535424"/>
            <a:ext cx="25420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3201D"/>
                </a:solidFill>
                <a:latin typeface="Calibri"/>
              </a:rPr>
              <a:t>End-to-end rental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Request → approve → pay → auto-generated lease.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4315968"/>
            <a:ext cx="3502152" cy="141732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44568" y="4535424"/>
            <a:ext cx="384048" cy="38404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4535424"/>
            <a:ext cx="25420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3201D"/>
                </a:solidFill>
                <a:latin typeface="Calibri"/>
              </a:rPr>
              <a:t>Smart roommate match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A scoring engine ranks compatible roommates.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0144" y="4315968"/>
            <a:ext cx="3502152" cy="141732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0" y="4535424"/>
            <a:ext cx="384048" cy="38404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4535424"/>
            <a:ext cx="25420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3201D"/>
                </a:solidFill>
                <a:latin typeface="Calibri"/>
              </a:rPr>
              <a:t>Real-time chat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53F"/>
                </a:solidFill>
                <a:latin typeface="Calibri"/>
              </a:rPr>
              <a:t>Tenants &amp; landlords talk instantly, securely.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PROJECT OBJECTIVES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What the Property Rental System achieves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440680" cy="1280160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85415"/>
            <a:ext cx="475488" cy="47548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93976"/>
            <a:ext cx="425196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3201D"/>
                </a:solidFill>
                <a:latin typeface="Calibri"/>
              </a:rPr>
              <a:t>Build trust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453F"/>
                </a:solidFill>
                <a:latin typeface="Calibri"/>
              </a:rPr>
              <a:t>Create a verified rental marketplace where identity and listings are validated.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440680" cy="1280160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185415"/>
            <a:ext cx="475488" cy="47548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093976"/>
            <a:ext cx="425196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3201D"/>
                </a:solidFill>
                <a:latin typeface="Calibri"/>
              </a:rPr>
              <a:t>Accurate discovery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453F"/>
                </a:solidFill>
                <a:latin typeface="Calibri"/>
              </a:rPr>
              <a:t>Enable location-precise property search using maps and geospatial queries.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55848"/>
            <a:ext cx="5440680" cy="1280160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666744"/>
            <a:ext cx="475488" cy="47548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75304"/>
            <a:ext cx="425196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3201D"/>
                </a:solidFill>
                <a:latin typeface="Calibri"/>
              </a:rPr>
              <a:t>Digitize the lifecycle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453F"/>
                </a:solidFill>
                <a:latin typeface="Calibri"/>
              </a:rPr>
              <a:t>Cover booking, approval, payment and lease generation in one 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355848"/>
            <a:ext cx="5440680" cy="1280160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3666744"/>
            <a:ext cx="475488" cy="47548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575304"/>
            <a:ext cx="425196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3201D"/>
                </a:solidFill>
                <a:latin typeface="Calibri"/>
              </a:rPr>
              <a:t>Match roommates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453F"/>
                </a:solidFill>
                <a:latin typeface="Calibri"/>
              </a:rPr>
              <a:t>Rank compatible roommates with a budget &amp; lifestyle scoring algorithm.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37175"/>
            <a:ext cx="5440680" cy="1280160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148071"/>
            <a:ext cx="475488" cy="47548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056631"/>
            <a:ext cx="425196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3201D"/>
                </a:solidFill>
                <a:latin typeface="Calibri"/>
              </a:rPr>
              <a:t>Empower admins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453F"/>
                </a:solidFill>
                <a:latin typeface="Calibri"/>
              </a:rPr>
              <a:t>Provide moderation, verification and analytics through an admin panel.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837175"/>
            <a:ext cx="5440680" cy="1280160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0" y="5148071"/>
            <a:ext cx="475488" cy="475488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056631"/>
            <a:ext cx="4251960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3201D"/>
                </a:solidFill>
                <a:latin typeface="Calibri"/>
              </a:rPr>
              <a:t>Secure by design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453F"/>
                </a:solidFill>
                <a:latin typeface="Calibri"/>
              </a:rPr>
              <a:t>Protect users with JWT auth, role-based access and rate limiting.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SCOPE &amp; TARGET USERS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Three roles, one trusted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0215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502152" cy="713232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02536"/>
            <a:ext cx="3502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39"/>
            <a:ext cx="2862072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Search &amp; filter verified listings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Book a room and pay securely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Chat with landlords in real time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Get matched with a roommate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Sign the digital 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874519"/>
            <a:ext cx="350215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874519"/>
            <a:ext cx="3502152" cy="713232"/>
          </a:xfrm>
          <a:prstGeom prst="roundRect">
            <a:avLst/>
          </a:prstGeom>
          <a:solidFill>
            <a:srgbClr val="A0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2002536"/>
            <a:ext cx="3502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Landlord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834639"/>
            <a:ext cx="2862072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List and manage properties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Set location on an interactive map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Approve or reject booking requests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Confirm payments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Counter-sign lease agreements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874519"/>
            <a:ext cx="350215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874519"/>
            <a:ext cx="3502152" cy="713232"/>
          </a:xfrm>
          <a:prstGeom prst="roundRect">
            <a:avLst/>
          </a:prstGeom>
          <a:solidFill>
            <a:srgbClr val="1B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2002536"/>
            <a:ext cx="3502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834639"/>
            <a:ext cx="2862072" cy="288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Verify users (CNIC / email)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Approve or reject listings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Verify payments &amp; bookings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Manage users &amp; content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View platform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989320"/>
            <a:ext cx="10908792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A06030"/>
                </a:solidFill>
                <a:latin typeface="Calibri"/>
              </a:rPr>
              <a:t>Primary focus:  </a:t>
            </a:r>
            <a:r>
              <a:rPr sz="1350" b="0">
                <a:solidFill>
                  <a:srgbClr val="4A453F"/>
                </a:solidFill>
                <a:latin typeface="Calibri"/>
              </a:rPr>
              <a:t>students and renters in Multan &amp; around Bahauddin Zakariya University — extensible to any 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KEY FEATURES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Everything a safe rental needs —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502152" cy="1298448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84832"/>
            <a:ext cx="128016" cy="128016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299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3201D"/>
                </a:solidFill>
                <a:latin typeface="Calibri"/>
              </a:rPr>
              <a:t>CNIC + Email Verification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Two-step identity trust for every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28800"/>
            <a:ext cx="3502152" cy="1298448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2856" y="2084832"/>
            <a:ext cx="128016" cy="128016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286000"/>
            <a:ext cx="299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3201D"/>
                </a:solidFill>
                <a:latin typeface="Calibri"/>
              </a:rPr>
              <a:t>Verified Listings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Admin-approved properties with real photos.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828800"/>
            <a:ext cx="3502152" cy="1298448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7888" y="2084832"/>
            <a:ext cx="128016" cy="128016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2286000"/>
            <a:ext cx="299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3201D"/>
                </a:solidFill>
                <a:latin typeface="Calibri"/>
              </a:rPr>
              <a:t>Map-Based Search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Interactive Leaflet map + geospatial radius 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10128"/>
            <a:ext cx="3502152" cy="1298448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3566160"/>
            <a:ext cx="128016" cy="128016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67328"/>
            <a:ext cx="299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3201D"/>
                </a:solidFill>
                <a:latin typeface="Calibri"/>
              </a:rPr>
              <a:t>Booking &amp; Approval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Request, review and confirm rentals online.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310128"/>
            <a:ext cx="3502152" cy="1298448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62856" y="3566160"/>
            <a:ext cx="128016" cy="128016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767328"/>
            <a:ext cx="299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3201D"/>
                </a:solidFill>
                <a:latin typeface="Calibri"/>
              </a:rPr>
              <a:t>Payments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Bank transfer or cash, verified before completion.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3310128"/>
            <a:ext cx="3502152" cy="1298448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47888" y="3566160"/>
            <a:ext cx="128016" cy="128016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3767328"/>
            <a:ext cx="299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3201D"/>
                </a:solidFill>
                <a:latin typeface="Calibri"/>
              </a:rPr>
              <a:t>Digital Lease (PDF)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Auto-generated agreements, e-signed by both.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91456"/>
            <a:ext cx="3502152" cy="1298448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5047488"/>
            <a:ext cx="128016" cy="128016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248656"/>
            <a:ext cx="299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3201D"/>
                </a:solidFill>
                <a:latin typeface="Calibri"/>
              </a:rPr>
              <a:t>Real-Time Chat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Instant messaging with presence &amp; read receipts.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4791456"/>
            <a:ext cx="3502152" cy="1298448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2856" y="5047488"/>
            <a:ext cx="128016" cy="128016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5248656"/>
            <a:ext cx="299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3201D"/>
                </a:solidFill>
                <a:latin typeface="Calibri"/>
              </a:rPr>
              <a:t>Roommate Matching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Compatibility scoring on budget &amp; lifestyle.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4791456"/>
            <a:ext cx="3502152" cy="1298448"/>
          </a:xfrm>
          <a:prstGeom prst="roundRect">
            <a:avLst/>
          </a:prstGeom>
          <a:solidFill>
            <a:srgbClr val="F6F0E7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7888" y="5047488"/>
            <a:ext cx="128016" cy="128016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5" y="5248656"/>
            <a:ext cx="29992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23201D"/>
                </a:solidFill>
                <a:latin typeface="Calibri"/>
              </a:rPr>
              <a:t>Admin Panel &amp; Analytics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Moderation, verification and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SYSTEM ARCHITECTURE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A modern three-tier web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874519"/>
            <a:ext cx="5943600" cy="1051560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874519"/>
            <a:ext cx="5394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Presentation Layer  —  Client (Frontend)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EE6D8"/>
                </a:solidFill>
                <a:latin typeface="Calibri"/>
              </a:rPr>
              <a:t>React 18 · Vite · TypeScript · Tailwind · Leaflet map · Zustand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246120"/>
            <a:ext cx="5943600" cy="1051560"/>
          </a:xfrm>
          <a:prstGeom prst="roundRect">
            <a:avLst/>
          </a:prstGeom>
          <a:solidFill>
            <a:srgbClr val="1B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3246120"/>
            <a:ext cx="5394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Application Layer  —  REST API (Backend)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EE6D8"/>
                </a:solidFill>
                <a:latin typeface="Calibri"/>
              </a:rPr>
              <a:t>Node.js · Express · Mongoose · JWT auth · Socket.IO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4617720"/>
            <a:ext cx="5943600" cy="1051560"/>
          </a:xfrm>
          <a:prstGeom prst="roundRect">
            <a:avLst/>
          </a:prstGeom>
          <a:solidFill>
            <a:srgbClr val="A0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4617720"/>
            <a:ext cx="5394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Data Layer  —  Database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EE6D8"/>
                </a:solidFill>
                <a:latin typeface="Calibri"/>
              </a:rPr>
              <a:t>MongoDB Atlas · 10 collections · 2dsphere geo-index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818888" y="2926080"/>
            <a:ext cx="329184" cy="310896"/>
          </a:xfrm>
          <a:prstGeom prst="downArrow">
            <a:avLst/>
          </a:prstGeom>
          <a:solidFill>
            <a:srgbClr val="93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4818888" y="4297680"/>
            <a:ext cx="329184" cy="310896"/>
          </a:xfrm>
          <a:prstGeom prst="downArrow">
            <a:avLst/>
          </a:prstGeom>
          <a:solidFill>
            <a:srgbClr val="93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874519"/>
            <a:ext cx="3200400" cy="379476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103120"/>
            <a:ext cx="2697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A06030"/>
                </a:solidFill>
                <a:latin typeface="Calibri"/>
              </a:rPr>
              <a:t>CROSS-CUTTING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300" b="0">
                <a:solidFill>
                  <a:srgbClr val="4A453F"/>
                </a:solidFill>
                <a:latin typeface="Calibri"/>
              </a:rPr>
              <a:t>Real-time layer via Socket.IO (chat, presence, notifications)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300" b="0">
                <a:solidFill>
                  <a:srgbClr val="4A453F"/>
                </a:solidFill>
                <a:latin typeface="Calibri"/>
              </a:rPr>
              <a:t>Auth with httpOnly JWT cookies + role-based access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300" b="0">
                <a:solidFill>
                  <a:srgbClr val="4A453F"/>
                </a:solidFill>
                <a:latin typeface="Calibri"/>
              </a:rPr>
              <a:t>Security: Helmet, CORS, rate limiting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A06030"/>
                </a:solidFill>
                <a:latin typeface="Calibri"/>
              </a:rPr>
              <a:t>DEPLOYMENT</a:t>
            </a:r>
          </a:p>
          <a:p>
            <a:pPr algn="l" indent="-182880" marL="18288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1B1815"/>
              </a:buClr>
              <a:buFont typeface="Arial"/>
              <a:buChar char="▪"/>
            </a:pPr>
            <a:r>
              <a:rPr sz="1300" b="0">
                <a:solidFill>
                  <a:srgbClr val="4A453F"/>
                </a:solidFill>
                <a:latin typeface="Calibri"/>
              </a:rPr>
              <a:t>Frontend → Vercel</a:t>
            </a:r>
          </a:p>
          <a:p>
            <a:pPr algn="l" indent="-182880" marL="18288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1B1815"/>
              </a:buClr>
              <a:buFont typeface="Arial"/>
              <a:buChar char="▪"/>
            </a:pPr>
            <a:r>
              <a:rPr sz="1300" b="0">
                <a:solidFill>
                  <a:srgbClr val="4A453F"/>
                </a:solidFill>
                <a:latin typeface="Calibri"/>
              </a:rPr>
              <a:t>Backend → Hugging Face (Docker)</a:t>
            </a:r>
          </a:p>
          <a:p>
            <a:pPr algn="l" indent="-182880" marL="18288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1B1815"/>
              </a:buClr>
              <a:buFont typeface="Arial"/>
              <a:buChar char="▪"/>
            </a:pPr>
            <a:r>
              <a:rPr sz="1300" b="0">
                <a:solidFill>
                  <a:srgbClr val="4A453F"/>
                </a:solidFill>
                <a:latin typeface="Calibri"/>
              </a:rPr>
              <a:t>CI via GitHub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TECHNOLOGY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Proven, modern and production-ready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0215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502152" cy="640080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502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281635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React 18 + Vite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TypeScript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Tailwind CSS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Zustand + TanStack Query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React Hook Form + Zod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Leaflet (maps)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4845A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Framer 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874519"/>
            <a:ext cx="350215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874519"/>
            <a:ext cx="3502152" cy="640080"/>
          </a:xfrm>
          <a:prstGeom prst="roundRect">
            <a:avLst/>
          </a:prstGeom>
          <a:solidFill>
            <a:srgbClr val="1B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965960"/>
            <a:ext cx="3502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743200"/>
            <a:ext cx="281635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Node.js + Express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Mongoose (ODM)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Socket.IO (real-time)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JWT (httpOnly cookies)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Multer (uploads)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PDFKit (lease PDFs)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1B1815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Nodemailer (email)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874519"/>
            <a:ext cx="3502152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0144" y="1874519"/>
            <a:ext cx="3502152" cy="640080"/>
          </a:xfrm>
          <a:prstGeom prst="roundRect">
            <a:avLst/>
          </a:prstGeom>
          <a:solidFill>
            <a:srgbClr val="A06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1965960"/>
            <a:ext cx="3502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Database &amp;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743200"/>
            <a:ext cx="281635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MongoDB Atlas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Geospatial 2dsphere index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Vercel (frontend host)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Hugging Face Docker Space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GitHub Actions (CI/CD)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Helmet + rate limiting</a:t>
            </a:r>
          </a:p>
          <a:p>
            <a:pPr algn="l" indent="-182880" marL="18288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A06030"/>
              </a:buClr>
              <a:buFont typeface="Arial"/>
              <a:buChar char="▪"/>
            </a:pPr>
            <a:r>
              <a:rPr sz="1450" b="0">
                <a:solidFill>
                  <a:srgbClr val="4A453F"/>
                </a:solidFill>
                <a:latin typeface="Calibri"/>
              </a:rPr>
              <a:t>REST API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CORE 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Booking → Payment → Digital 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700784" cy="246888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2377439"/>
            <a:ext cx="603504" cy="603504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154679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3201D"/>
                </a:solidFill>
                <a:latin typeface="Calibri"/>
              </a:rPr>
              <a:t>Request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Tenant requests a booking on a verified listing.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22576" y="3108960"/>
            <a:ext cx="182880" cy="310896"/>
          </a:xfrm>
          <a:prstGeom prst="rightArrow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87168" y="2103120"/>
            <a:ext cx="1700784" cy="246888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35808" y="2377439"/>
            <a:ext cx="603504" cy="603504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154679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3201D"/>
                </a:solidFill>
                <a:latin typeface="Calibri"/>
              </a:rPr>
              <a:t>Approve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Landlord reviews and approves the request.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69664" y="3108960"/>
            <a:ext cx="182880" cy="310896"/>
          </a:xfrm>
          <a:prstGeom prst="rightArrow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4256" y="2103120"/>
            <a:ext cx="1700784" cy="246888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82896" y="2377439"/>
            <a:ext cx="603504" cy="603504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154679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3201D"/>
                </a:solidFill>
                <a:latin typeface="Calibri"/>
              </a:rPr>
              <a:t>Pay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Tenant pays by bank transfer or cash.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16752" y="3108960"/>
            <a:ext cx="182880" cy="310896"/>
          </a:xfrm>
          <a:prstGeom prst="rightArrow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1344" y="2103120"/>
            <a:ext cx="1700784" cy="246888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9984" y="2377439"/>
            <a:ext cx="603504" cy="603504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3154679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3201D"/>
                </a:solidFill>
                <a:latin typeface="Calibri"/>
              </a:rPr>
              <a:t>Confirm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Payment is verified; booking is completed.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63840" y="3108960"/>
            <a:ext cx="182880" cy="310896"/>
          </a:xfrm>
          <a:prstGeom prst="rightArrow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8431" y="2103120"/>
            <a:ext cx="1700784" cy="246888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7072" y="2377439"/>
            <a:ext cx="603504" cy="603504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3154679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3201D"/>
                </a:solidFill>
                <a:latin typeface="Calibri"/>
              </a:rPr>
              <a:t>Lease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A digital lease PDF is generated automatically.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10928" y="3108960"/>
            <a:ext cx="182880" cy="310896"/>
          </a:xfrm>
          <a:prstGeom prst="rightArrow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19" y="2103120"/>
            <a:ext cx="1700784" cy="246888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24159" y="2377439"/>
            <a:ext cx="603504" cy="603504"/>
          </a:xfrm>
          <a:prstGeom prst="ellipse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1" y="3154679"/>
            <a:ext cx="1371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23201D"/>
                </a:solidFill>
                <a:latin typeface="Calibri"/>
              </a:rPr>
              <a:t>Sign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53F"/>
                </a:solidFill>
                <a:latin typeface="Calibri"/>
              </a:rPr>
              <a:t>Both parties e-sign — the rental is finalised.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A06030"/>
                </a:solidFill>
                <a:latin typeface="Calibri"/>
              </a:rPr>
              <a:t>Verification gate:  </a:t>
            </a:r>
            <a:r>
              <a:rPr sz="1500" b="0">
                <a:solidFill>
                  <a:srgbClr val="4A453F"/>
                </a:solidFill>
                <a:latin typeface="Calibri"/>
              </a:rPr>
              <a:t>a user must be CNIC + email verified before they can list a property or request a booking — keeping every transaction between trusted parties.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TRUST, VERIFICATION &amp; ADMIN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The safety layer that sets the platform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94960" cy="3977639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8006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A06030"/>
                </a:solidFill>
                <a:latin typeface="Calibri"/>
              </a:rPr>
              <a:t>USER VERIFICATION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D4845A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Email confirmation to activate the account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D4845A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CNIC upload (front &amp; back) with status tracking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D4845A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Verified badge shown across the platform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D4845A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Listing &amp; booking blocked until fully verified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D4845A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Role-based access checked on every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33095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7548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A06030"/>
                </a:solidFill>
                <a:latin typeface="Calibri"/>
              </a:rPr>
              <a:t>ADMIN PANEL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B1815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Approve or reject property listings (review queue)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B1815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Manage users — suspend, verify, change roles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B1815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Verify tenant payments &amp; confirm bookings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B1815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Moderate content and resolve disputes</a:t>
            </a:r>
          </a:p>
          <a:p>
            <a:pPr algn="l" indent="-182880" marL="182880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>
                <a:srgbClr val="1B1815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Analytics dashboard — users, listings,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481328"/>
            <a:ext cx="566928" cy="64008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06030"/>
                </a:solidFill>
                <a:latin typeface="Calibri"/>
              </a:rPr>
              <a:t>ROOMMATE MATCHING &amp; REAL-TIME CHAT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201D"/>
                </a:solidFill>
                <a:latin typeface="Calibri"/>
              </a:rPr>
              <a:t>Beyond rooms — the right people, instantly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Property Rental System  · 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38A7D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9496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94960" cy="640080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Roommate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8006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indent="-182880" marL="182880">
              <a:lnSpc>
                <a:spcPct val="114000"/>
              </a:lnSpc>
              <a:spcBef>
                <a:spcPts val="0"/>
              </a:spcBef>
              <a:spcAft>
                <a:spcPts val="1300"/>
              </a:spcAft>
              <a:buClr>
                <a:srgbClr val="D4845A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Users build a roommate profile — budget, lifestyle, habits, preferences</a:t>
            </a:r>
          </a:p>
          <a:p>
            <a:pPr algn="l" indent="-182880" marL="182880">
              <a:lnSpc>
                <a:spcPct val="114000"/>
              </a:lnSpc>
              <a:spcBef>
                <a:spcPts val="0"/>
              </a:spcBef>
              <a:spcAft>
                <a:spcPts val="1300"/>
              </a:spcAft>
              <a:buClr>
                <a:srgbClr val="D4845A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A scoring algorithm computes a compatibility percentage</a:t>
            </a:r>
          </a:p>
          <a:p>
            <a:pPr algn="l" indent="-182880" marL="182880">
              <a:lnSpc>
                <a:spcPct val="114000"/>
              </a:lnSpc>
              <a:spcBef>
                <a:spcPts val="0"/>
              </a:spcBef>
              <a:spcAft>
                <a:spcPts val="1300"/>
              </a:spcAft>
              <a:buClr>
                <a:srgbClr val="D4845A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Matches are ranked so the best fits surface first</a:t>
            </a:r>
          </a:p>
          <a:p>
            <a:pPr algn="l" indent="-182880" marL="182880">
              <a:lnSpc>
                <a:spcPct val="114000"/>
              </a:lnSpc>
              <a:spcBef>
                <a:spcPts val="0"/>
              </a:spcBef>
              <a:spcAft>
                <a:spcPts val="1300"/>
              </a:spcAft>
              <a:buClr>
                <a:srgbClr val="D4845A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Connect and chat directly from a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33095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330952" cy="640080"/>
          </a:xfrm>
          <a:prstGeom prst="roundRect">
            <a:avLst/>
          </a:prstGeom>
          <a:solidFill>
            <a:srgbClr val="1B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5330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Real-Time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4754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indent="-182880" marL="182880">
              <a:lnSpc>
                <a:spcPct val="114000"/>
              </a:lnSpc>
              <a:spcBef>
                <a:spcPts val="0"/>
              </a:spcBef>
              <a:spcAft>
                <a:spcPts val="1300"/>
              </a:spcAft>
              <a:buClr>
                <a:srgbClr val="1B1815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Instant messaging powered by Socket.IO</a:t>
            </a:r>
          </a:p>
          <a:p>
            <a:pPr algn="l" indent="-182880" marL="182880">
              <a:lnSpc>
                <a:spcPct val="114000"/>
              </a:lnSpc>
              <a:spcBef>
                <a:spcPts val="0"/>
              </a:spcBef>
              <a:spcAft>
                <a:spcPts val="1300"/>
              </a:spcAft>
              <a:buClr>
                <a:srgbClr val="1B1815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Online presence and read-receipt indicators</a:t>
            </a:r>
          </a:p>
          <a:p>
            <a:pPr algn="l" indent="-182880" marL="182880">
              <a:lnSpc>
                <a:spcPct val="114000"/>
              </a:lnSpc>
              <a:spcBef>
                <a:spcPts val="0"/>
              </a:spcBef>
              <a:spcAft>
                <a:spcPts val="1300"/>
              </a:spcAft>
              <a:buClr>
                <a:srgbClr val="1B1815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Start a conversation straight from any listing</a:t>
            </a:r>
          </a:p>
          <a:p>
            <a:pPr algn="l" indent="-182880" marL="182880">
              <a:lnSpc>
                <a:spcPct val="114000"/>
              </a:lnSpc>
              <a:spcBef>
                <a:spcPts val="0"/>
              </a:spcBef>
              <a:spcAft>
                <a:spcPts val="1300"/>
              </a:spcAft>
              <a:buClr>
                <a:srgbClr val="1B1815"/>
              </a:buClr>
              <a:buFont typeface="Arial"/>
              <a:buChar char="▪"/>
            </a:pPr>
            <a:r>
              <a:rPr sz="1500" b="0">
                <a:solidFill>
                  <a:srgbClr val="4A453F"/>
                </a:solidFill>
                <a:latin typeface="Calibri"/>
              </a:rPr>
              <a:t>Message history saved per conversation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4845A"/>
                </a:solidFill>
                <a:latin typeface="Calibri"/>
              </a:rPr>
              <a:t>CONCLUSION &amp; FUTURE 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secure, trust-first rental &amp; roommate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E7DDCC"/>
                </a:solidFill>
                <a:latin typeface="Calibri"/>
              </a:rPr>
              <a:t>The Property Rental System replaces informal, risky renting with a verified, end-to-end digital platform — from CNIC-checked users and admin-approved listings to online booking, payment, and auto-generated lease agreements.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429000"/>
            <a:ext cx="2542032" cy="1417320"/>
          </a:xfrm>
          <a:prstGeom prst="roundRect">
            <a:avLst/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3429000"/>
            <a:ext cx="2542032" cy="82296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703320"/>
            <a:ext cx="213055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Online payments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BDAC"/>
                </a:solidFill>
                <a:latin typeface="Calibri"/>
              </a:rPr>
              <a:t>JazzCard / Stripe gateway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2464" y="3429000"/>
            <a:ext cx="2542032" cy="1417320"/>
          </a:xfrm>
          <a:prstGeom prst="roundRect">
            <a:avLst/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12464" y="3429000"/>
            <a:ext cx="2542032" cy="82296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41064" y="3703320"/>
            <a:ext cx="213055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Mobile app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BDAC"/>
                </a:solidFill>
                <a:latin typeface="Calibri"/>
              </a:rPr>
              <a:t>Native Android / iOS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3429000"/>
            <a:ext cx="2542032" cy="1417320"/>
          </a:xfrm>
          <a:prstGeom prst="roundRect">
            <a:avLst/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088" y="3429000"/>
            <a:ext cx="2542032" cy="82296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3703320"/>
            <a:ext cx="213055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AI recommendations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BDAC"/>
                </a:solidFill>
                <a:latin typeface="Calibri"/>
              </a:rPr>
              <a:t>Smarter listing &amp; roommate suggestions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25711" y="3429000"/>
            <a:ext cx="2542032" cy="1417320"/>
          </a:xfrm>
          <a:prstGeom prst="roundRect">
            <a:avLst/>
          </a:prstGeom>
          <a:solidFill>
            <a:srgbClr val="2A2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25711" y="3429000"/>
            <a:ext cx="2542032" cy="82296"/>
          </a:xfrm>
          <a:prstGeom prst="round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1" y="3703320"/>
            <a:ext cx="2130551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Reviews &amp; ratings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BDAC"/>
                </a:solidFill>
                <a:latin typeface="Calibri"/>
              </a:rPr>
              <a:t>Reputation for landlords and tenants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212080"/>
            <a:ext cx="2743200" cy="45720"/>
          </a:xfrm>
          <a:prstGeom prst="rect">
            <a:avLst/>
          </a:prstGeom>
          <a:solidFill>
            <a:srgbClr val="D48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BDAC"/>
                </a:solidFill>
                <a:latin typeface="Calibri"/>
              </a:rPr>
              <a:t>Questions &amp; live demo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